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Gain in validation PR-AUC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 gain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+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Model choice (Logistic Regression → LightGBM)</c:v>
                  </c:pt>
                  <c:pt idx="1">
                    <c:v>Handling imbalance (none → undersampling)</c:v>
                  </c:pt>
                  <c:pt idx="2">
                    <c:v>More trees (100 → 500)</c:v>
                  </c:pt>
                  <c:pt idx="3">
                    <c:v>Hyperparameter tuning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0.544</c:v>
                </c:pt>
                <c:pt idx="1">
                  <c:v>0.418</c:v>
                </c:pt>
                <c:pt idx="2">
                  <c:v>0.028</c:v>
                </c:pt>
                <c:pt idx="3">
                  <c:v>0.002</c:v>
                </c:pt>
              </c:numCache>
            </c:numRef>
          </c:val>
        </c:ser>
        <c:dLbls>
          <c:numFmt formatCode="+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detecting fraudulent card transactions and explaining the behaviour behind them. Dataset: Sparkov simulated credit card transactions from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rare events, two kinds of cost (missed fraud vs false alarms). Then the four objectives that map to the four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dataset choice and differentiation: readable columns allow behaviour analysis. Be upfront that the data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notebooks. Stress that the test file was never used to make any decision; all choices were made on the validation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scale is used so the fraud bar is visible. The accuracy trap motivates PR-AUC, precision and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fraud groups: mostly high-value, plus a smaller low-value group. The &gt;$1,500 zero-fraud band is a data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chart answers how risky a purchase is; right chart answers where losses pile up. A bank needs both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 volume is not low in this data, so the high night rate is real concentration of fraud. The sharp 10 pm / 4 am edges are a simulator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vs usual is the key engineered feature: fraud is about 5x the card's normal spend. Distance shows no difference, which is itself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Clustering found the fraud-heavy segment without seeing labels. Still, 98% of cluster 0 is legitimate, so segments show where to look, not which transaction is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detection is useful for new fraud types without labels, but supervised models are far more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strategies tested with Logistic Regression and LightGBM. SMOTE slightly lower (0.928). Cluster-based sampling did not beat random undersampling, consistent with overlapping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Boosting improves quickly then plateaus. XGBoost learns more slowly than LightGBM. Best tuned settings: 31 leaves, learning rate 0.05, 401 trees via early stopping.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numbers. LightGBM catches 85% of fraud and 87% of its alerts are real fraud. The two grey rows are benchmarks, not contenders.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false alarm is a blocked customer or analyst review. The model reduces them by about 91 times compared with an amount-only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choice: 0.407 → 0.951. Sampling: 0.533 → 0.951. Trees 100 → 500: 0.925 → 0.953. Tuning: 0.951 → 0.953.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links back to a finding: time, bursts, spend vs usual, categories, model results, unsupervised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simulated data makes patterns cleaner than reality. The method transfers; the exact numbers would change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notebooks in VS Code for any detailed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409651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ANALYTICS  ·  COURSE PROJECT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Transaction Fraud Detection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Merchant Behaviour Analysis using Machine Learning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Adithya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25030242063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Centre for Information Technology, Pune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49640" y="14173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0" y="1527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8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transactions (2019–2020)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49640" y="292608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0" y="30358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8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9,651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36758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(0.52%)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443484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45445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8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5184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on unseen test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82396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card fraud is hard to catch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rare: about 1 in every 172 transactions.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fraud costs money; flagging genuine customers costs trust and analyst time.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 (e.g. "flag large amounts") catch fraud but drown teams in false alarms.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catch most fraud while keeping false alarms low, and explain what fraud looks like.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783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fraud behaviour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by amount, category, time, customer and card usage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770632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999232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862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behavioural features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usual, time since last use, recent activity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84962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078224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941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without labels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306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and Isolation Forest anomaly detection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492861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5157216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50200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sampling &amp; ML models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5385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sampling strategies, 5 models, 100–1000 iterations, tuning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82396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Sparkov credit card transactions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3288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(1.30M train · 0.56M test)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801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53288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/ customers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8013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53288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130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4456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7033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38130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454456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37033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38130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54456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(train)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dataset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features (amount, category, time, age, location), so every finding becomes a business insight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anonymised datasets (V1–V28 PCA columns) that cannot be interpreted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split by date: train Jan 2019–Jun 2020, test Jun–Dec 2020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(CC0) on Kaggle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 is synthetic (generated by the Sparkov simulator to resemble real card activity). Patterns reflect the simulator's fraud profiles.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 and honest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07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by amount,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time, card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825496" y="16459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0088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807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features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 data only)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102352" y="16459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6944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2807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Isolation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7379208" y="16459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07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strategies, 5 models,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iterations, tuning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656064" y="16459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0656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20656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20656" y="2807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once 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data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554480"/>
                <a:gridCol w="1097280"/>
                <a:gridCol w="4754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2019 – Mar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1,076,870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during experiments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2020 – Jun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219,805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choices: sampling, trees, settings, thresholds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2020 – Dec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555,719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evaluation only — never used for any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split: models always learn from the past and are tested on the future, like a bank would use them.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rare: accuracy is the wrong metric</a:t>
            </a:r>
            <a:endParaRPr lang="en-US" sz="3000" dirty="0"/>
          </a:p>
        </p:txBody>
      </p:sp>
      <p:pic>
        <p:nvPicPr>
          <p:cNvPr id="5" name="Image 0" descr="/mnt/user-data/uploads/eda_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618"/>
            <a:ext cx="6400800" cy="42394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6916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8013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172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350008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is fraud (7,506 of 1.30M in training)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32004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99.42%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858768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from predicting "legitimate" for everything, while catching zero fraud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470916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4818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367528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metric, plus precision, recall and F1, which focus on the fraud class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concentrates in high-value transactions</a:t>
            </a:r>
            <a:endParaRPr lang="en-US" sz="3000" dirty="0"/>
          </a:p>
        </p:txBody>
      </p:sp>
      <p:pic>
        <p:nvPicPr>
          <p:cNvPr id="5" name="Image 0" descr="/mnt/user-data/uploads/eda_03_fraud_rate_by_am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2822"/>
            <a:ext cx="7680960" cy="3415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9164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801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$397 vs $47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35000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fraud vs median legitimate amount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0" y="32004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78240" y="3310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85876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sits in the ~5% of transactions between $200 and $1,500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595360" y="470916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0" y="4818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536752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in the $1,000–1,500 band (62x the average)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03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group of low-value fraud ($10–50, ~21% of cases) also exists. No fraud above $1,500 is a quirk of the simulated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shopping is riskiest; grocery stores see the most cases</a:t>
            </a:r>
            <a:endParaRPr lang="en-US" sz="3000" dirty="0"/>
          </a:p>
        </p:txBody>
      </p:sp>
      <p:pic>
        <p:nvPicPr>
          <p:cNvPr id="5" name="Image 0" descr="/mnt/user-data/uploads/eda_04_fraud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46" y="1554480"/>
            <a:ext cx="1074022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2.4x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 in-store shopping fraud rate (1.76% vs 0.72%)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 in 4 categories: grocery_pos, shopping_net, misc_net, shopping_pos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≠ volume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shopping_net has the highest rate; grocery_pos the most cases (1,743)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 of fraud happens between 10 pm and 4 am</a:t>
            </a:r>
            <a:endParaRPr lang="en-US" sz="3000" dirty="0"/>
          </a:p>
        </p:txBody>
      </p:sp>
      <p:pic>
        <p:nvPicPr>
          <p:cNvPr id="5" name="Image 0" descr="/mnt/user-data/uploads/eda_05_fraud_by_h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73" y="1554480"/>
            <a:ext cx="10361174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 falls in 6 night hours (10 pm–4 am)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~28x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fraud rate at 10–11 pm than during the day (~2.9% vs ~0.1%)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96188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pattern holds on all 7 days of the week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2481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24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features separate fraud best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188720"/>
                <a:gridCol w="1371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(median)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vs card's usual spend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5.16x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of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since card's previous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on card in last 24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 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916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8013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frauds in 1.9 days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48716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burst on a compromised card: fraud comes fast and repeatedly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36118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3721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leakage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2702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features use only transactions before the current one, as a bank would see them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51663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5276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≠ fraud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733288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assumption that does not hold in this data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behaviour segment holds most of the fraud</a:t>
            </a:r>
            <a:endParaRPr lang="en-US" sz="3000" dirty="0"/>
          </a:p>
        </p:txBody>
      </p:sp>
      <p:pic>
        <p:nvPicPr>
          <p:cNvPr id="5" name="Image 0" descr="/mnt/user-data/uploads/cl_02_fraud_by_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9706"/>
            <a:ext cx="11064240" cy="37843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0468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5) on 7 behaviour features, with no fraud labels used. Silhouette 0.14–0.18: behaviour forms a continuum, not sharp groups.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54406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550468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"high-velocity users":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transactions but 56.5% of fraud (1.61% rate), about 6 transactions a day, 1.6 h apart.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51076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51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forms two groups, even without labels</a:t>
            </a:r>
            <a:endParaRPr lang="en-US" sz="3000" dirty="0"/>
          </a:p>
        </p:txBody>
      </p:sp>
      <p:pic>
        <p:nvPicPr>
          <p:cNvPr id="5" name="Image 0" descr="/mnt/user-data/uploads/cl_03_cluster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6086"/>
            <a:ext cx="6583680" cy="47431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circles (fraud) gather in two places: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high-value group (right)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low-value group (left)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two amount peaks from the EDA.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 (anomaly detection, test set)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40690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636008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caught in the top 1% most unusual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46920" y="40690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2980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829800" y="4636008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with no labels at all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5486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5 of every 6 alerts are false, so labels make a big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2481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24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STRATEGIES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the training data nearly doubled performance</a:t>
            </a:r>
            <a:endParaRPr lang="en-US" sz="3000" dirty="0"/>
          </a:p>
        </p:txBody>
      </p:sp>
      <p:pic>
        <p:nvPicPr>
          <p:cNvPr id="5" name="Image 0" descr="/mnt/user-data/uploads/04_01_sampl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806"/>
            <a:ext cx="7772400" cy="3210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PR-AUC. Each strategy changes only the training data; validation and test keep the real fraud rate.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0" y="16916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0" y="1801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 → 0.95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2350008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PR-AUC without vs with rebalancing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32918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0" y="3401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 tie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3950208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undersampling, class weights, cluster-based (~0.95); undersampling chosen: 10x faster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48920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0" y="5001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0.49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5550408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under every strategy: the model, not the data, is the limit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2481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24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&amp; TUNING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training helps, up to a point</a:t>
            </a:r>
            <a:endParaRPr lang="en-US" sz="3000" dirty="0"/>
          </a:p>
        </p:txBody>
      </p:sp>
      <p:pic>
        <p:nvPicPr>
          <p:cNvPr id="5" name="Image 0" descr="/mnt/user-data/uploads/04_03_iteration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70" y="1554480"/>
            <a:ext cx="10745379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≈ 1000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34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0.925 (100 trees) → 0.953 (500); no gain at 1000, no overfitting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934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after 100 trees (0.882 → 0.886); Logistic Regression same at every iteration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54406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5550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934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tuning 8 LightGBM settings (0.951 → 0.953): defaults were near-optimal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0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on unseen data (Jun–Dec 2020)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555,719 test transactions · 2,145 frauds · thresholds fixed on validation before testing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97280"/>
                <a:gridCol w="1005840"/>
                <a:gridCol w="822960"/>
                <a:gridCol w="1463040"/>
                <a:gridCol w="10972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Frauds caught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(tuned)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(unsupervised)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rule (&gt; $200)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ranking as on validation.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PR-AUC 0.95 (validation) → 0.92 (test): a small, expected drop on later data, showing the test set was kept separate.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7340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7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catches more fraud with far fewer false alarms</a:t>
            </a:r>
            <a:endParaRPr lang="en-US" sz="3000" dirty="0"/>
          </a:p>
        </p:txBody>
      </p:sp>
      <p:pic>
        <p:nvPicPr>
          <p:cNvPr id="5" name="Image 0" descr="/mnt/user-data/uploads/04_04_final_tes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945"/>
            <a:ext cx="6766560" cy="30734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0292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~91x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502920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 than the $200 rule (261 vs 23,738), while catching more fraud (85% vs 75%)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16916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1801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(tuned)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194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1,815 caught · 330 missed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5420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false alarms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80960" y="3264408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33741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rule (&gt; $200)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3767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 caught · 534 missed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23,738 false alarms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80960" y="4837176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4946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5340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caught · 1,305 missed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5687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3,531 false alarms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drove performance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73736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92024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 that handles combined patterns, and fixing the class imbalance, mattered far more than fine-tuning settings.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wins because each new tree corrects earlier mistakes, capturing combinations like "night + large amount + unusual for this card".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7340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7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bank could do with these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140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step-up checks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verification from 10 pm to 4 am, when 85% of fraud occurs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2140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alerts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2402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rapid repeat use: compromised cards see ~10 frauds within 2 days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7588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Spend-vs-usual check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7947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a payment is far above the card's normal spend (fraud ≈ 5x usual)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67588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high-risk categories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7947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&amp; misc, in-store grocery: 69% of fraud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23036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37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amount-only rules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3492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LightGBM risk score: more fraud caught, ~91x fewer false alarms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523036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937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new fraud types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53492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unsupervised monitor (Isolation Forest) for unlabelled patterns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the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sharp 10 pm / 4 am cut-offs and no fraud above $1,500 come from the simulator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 is likely lower than PR-AUC 0.92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transactions from 2019–2020 only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chosen for best F1, not actual business costs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analysis: explain which features drive each prediction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threshold: weigh missed fraud vs false-alarm cost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 and drift monitoring as fraud tactics change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pipeline on real bank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(time-based split, imbalance handling, model comparison, honest test) transfers to real data; the exact numbers would change.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Adithya  ·  PRN 25030242063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(live demo)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63840" y="219456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2194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30632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3063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 engineering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393192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Clustering &amp; anomaly detection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48006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4800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Sampling, models, iterations &amp; tuning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 Transaction Fraud Detection</dc:title>
  <dc:subject>PptxGenJS Presentation</dc:subject>
  <dc:creator>V Adithya</dc:creator>
  <cp:lastModifiedBy>V Adithya</cp:lastModifiedBy>
  <cp:revision>1</cp:revision>
  <dcterms:created xsi:type="dcterms:W3CDTF">2026-10-02T14:08:18Z</dcterms:created>
  <dcterms:modified xsi:type="dcterms:W3CDTF">2026-10-02T14:08:18Z</dcterms:modified>
</cp:coreProperties>
</file>